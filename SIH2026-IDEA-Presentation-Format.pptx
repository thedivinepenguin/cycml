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a:spcBef>
                <a:spcPts val="200"/>
              </a:spcBef>
              <a:spcAft>
                <a:spcPts val="800"/>
              </a:spcAft>
              <a:buNone/>
            </a:pPr>
            <a:r>
              <a:rPr sz="1450" b="1">
                <a:solidFill>
                  <a:srgbClr val="10366E"/>
                </a:solidFill>
                <a:latin typeface="Arial"/>
              </a:rPr>
              <a:t>Problem Statement ID – </a:t>
            </a:r>
            <a:r>
              <a:rPr sz="1450" b="1">
                <a:solidFill>
                  <a:srgbClr val="212529"/>
                </a:solidFill>
                <a:latin typeface="Arial"/>
              </a:rPr>
              <a:t>26070</a:t>
            </a:r>
            <a:endParaRPr lang="en-US" dirty="0"/>
          </a:p>
          <a:p>
            <a:pPr>
              <a:spcBef>
                <a:spcPts val="200"/>
              </a:spcBef>
              <a:spcAft>
                <a:spcPts val="800"/>
              </a:spcAft>
              <a:buNone/>
            </a:pPr>
            <a:r>
              <a:rPr sz="1450" b="1">
                <a:solidFill>
                  <a:srgbClr val="10366E"/>
                </a:solidFill>
                <a:latin typeface="Arial"/>
              </a:rPr>
              <a:t>Problem Statement Title – </a:t>
            </a:r>
            <a:r>
              <a:rPr sz="1450" b="1">
                <a:solidFill>
                  <a:srgbClr val="212529"/>
                </a:solidFill>
                <a:latin typeface="Arial"/>
              </a:rPr>
              <a:t>AI/ML System for Tropical Cyclone Identification, Pattern Classification &amp; Intensity Forecasting</a:t>
            </a:r>
          </a:p>
          <a:p>
            <a:pPr>
              <a:spcBef>
                <a:spcPts val="200"/>
              </a:spcBef>
              <a:spcAft>
                <a:spcPts val="800"/>
              </a:spcAft>
              <a:buNone/>
            </a:pPr>
            <a:r>
              <a:rPr sz="1450" b="1">
                <a:solidFill>
                  <a:srgbClr val="10366E"/>
                </a:solidFill>
                <a:latin typeface="Arial"/>
              </a:rPr>
              <a:t>Theme – </a:t>
            </a:r>
            <a:r>
              <a:rPr sz="1450" b="1">
                <a:solidFill>
                  <a:srgbClr val="212529"/>
                </a:solidFill>
                <a:latin typeface="Arial"/>
              </a:rPr>
              <a:t>Disaster Management / Space Technology &amp; Smart Governance</a:t>
            </a:r>
          </a:p>
          <a:p>
            <a:pPr>
              <a:spcBef>
                <a:spcPts val="200"/>
              </a:spcBef>
              <a:spcAft>
                <a:spcPts val="800"/>
              </a:spcAft>
              <a:buNone/>
            </a:pPr>
            <a:r>
              <a:rPr sz="1450" b="1">
                <a:solidFill>
                  <a:srgbClr val="10366E"/>
                </a:solidFill>
                <a:latin typeface="Arial"/>
              </a:rPr>
              <a:t>PS Category – </a:t>
            </a:r>
            <a:r>
              <a:rPr sz="1450" b="1">
                <a:solidFill>
                  <a:srgbClr val="212529"/>
                </a:solidFill>
                <a:latin typeface="Arial"/>
              </a:rPr>
              <a:t>Software</a:t>
            </a:r>
          </a:p>
          <a:p>
            <a:pPr>
              <a:spcBef>
                <a:spcPts val="200"/>
              </a:spcBef>
              <a:spcAft>
                <a:spcPts val="800"/>
              </a:spcAft>
              <a:buNone/>
            </a:pPr>
            <a:r>
              <a:rPr sz="1450" b="1">
                <a:solidFill>
                  <a:srgbClr val="10366E"/>
                </a:solidFill>
                <a:latin typeface="Arial"/>
              </a:rPr>
              <a:t>Team ID – </a:t>
            </a:r>
            <a:r>
              <a:rPr sz="1450" b="0">
                <a:solidFill>
                  <a:srgbClr val="212529"/>
                </a:solidFill>
                <a:latin typeface="Arial"/>
              </a:rPr>
              <a:t>[Enter Registered Team ID on Portal]</a:t>
            </a:r>
          </a:p>
          <a:p>
            <a:pPr>
              <a:spcBef>
                <a:spcPts val="200"/>
              </a:spcBef>
              <a:spcAft>
                <a:spcPts val="800"/>
              </a:spcAft>
              <a:buNone/>
            </a:pPr>
            <a:r>
              <a:rPr sz="1450" b="1">
                <a:solidFill>
                  <a:srgbClr val="10366E"/>
                </a:solidFill>
                <a:latin typeface="Arial"/>
              </a:rPr>
              <a:t>Team Name – </a:t>
            </a:r>
            <a:r>
              <a:rPr sz="1450" b="0">
                <a:solidFill>
                  <a:srgbClr val="212529"/>
                </a:solidFill>
                <a:latin typeface="Arial"/>
              </a:rPr>
              <a:t>[Enter Registered Team Name on Portal]</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8" name="Picture 37" descr="lifecycle_lead_time_super_cyclone_phet.png"/>
          <p:cNvPicPr>
            <a:picLocks noChangeAspect="1"/>
          </p:cNvPicPr>
          <p:nvPr/>
        </p:nvPicPr>
        <p:blipFill>
          <a:blip r:embed="rId4"/>
          <a:stretch>
            <a:fillRect/>
          </a:stretch>
        </p:blipFill>
        <p:spPr>
          <a:xfrm>
            <a:off x="6766560" y="2103120"/>
            <a:ext cx="4846320" cy="3017520"/>
          </a:xfrm>
          <a:prstGeom prst="rect">
            <a:avLst/>
          </a:prstGeom>
        </p:spPr>
      </p:pic>
      <p:sp>
        <p:nvSpPr>
          <p:cNvPr id="39" name="TextBox 38"/>
          <p:cNvSpPr txBox="1"/>
          <p:nvPr/>
        </p:nvSpPr>
        <p:spPr>
          <a:xfrm>
            <a:off x="6766560" y="5166360"/>
            <a:ext cx="4846320" cy="731520"/>
          </a:xfrm>
          <a:prstGeom prst="rect">
            <a:avLst/>
          </a:prstGeom>
          <a:noFill/>
        </p:spPr>
        <p:txBody>
          <a:bodyPr wrap="square">
            <a:spAutoFit/>
          </a:bodyPr>
          <a:lstStyle/>
          <a:p>
            <a:pPr>
              <a:buNone/>
              <a:defRPr sz="950" b="1">
                <a:solidFill>
                  <a:srgbClr val="10366E"/>
                </a:solidFill>
                <a:latin typeface="Arial"/>
              </a:defRPr>
            </a:pPr>
            <a:r>
              <a:t>DeepCycloNet Operational Prototype: AI-Driven 24-Hour Cyclone Tracking &amp; Rapid Intensification Early Warning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691640" y="137160"/>
            <a:ext cx="8046720" cy="822960"/>
          </a:xfrm>
        </p:spPr>
        <p:txBody>
          <a:bodyPr/>
          <a:lstStyle/>
          <a:p>
            <a:pPr>
              <a:buNone/>
              <a:defRPr sz="2100" b="1">
                <a:solidFill>
                  <a:srgbClr val="10366E"/>
                </a:solidFill>
                <a:latin typeface="Arial"/>
              </a:defRPr>
            </a:pPr>
            <a:r>
              <a:t>DeepCycloNet: AI for Cyclone Tracking &amp; Rapid Intensification</a:t>
            </a:r>
          </a:p>
        </p:txBody>
      </p:sp>
      <p:sp>
        <p:nvSpPr>
          <p:cNvPr id="15362" name="TextBox 8"/>
          <p:cNvSpPr txBox="1">
            <a:spLocks noChangeArrowheads="1"/>
          </p:cNvSpPr>
          <p:nvPr/>
        </p:nvSpPr>
        <p:spPr bwMode="auto">
          <a:xfrm>
            <a:off x="5669280" y="1234440"/>
            <a:ext cx="6035040" cy="4937760"/>
          </a:xfrm>
          <a:prstGeom prst="rect">
            <a:avLst/>
          </a:prstGeom>
          <a:noFill/>
          <a:ln w="9525">
            <a:noFill/>
            <a:miter lim="800000"/>
            <a:headEnd/>
            <a:tailEnd/>
          </a:ln>
        </p:spPr>
        <p:txBody>
          <a:bodyPr wrap="square">
            <a:spAutoFit/>
          </a:bodyPr>
          <a:lstStyle/>
          <a:p>
            <a:pPr marL="342900" indent="-342900">
              <a:spcAft>
                <a:spcPts val="400"/>
              </a:spcAft>
              <a:buNone/>
              <a:defRPr sz="1300" b="1">
                <a:solidFill>
                  <a:srgbClr val="10366E"/>
                </a:solidFill>
                <a:latin typeface="Arial"/>
              </a:defRPr>
            </a:pPr>
            <a:r>
              <a:t>❖ Proposed Solution (Describe your Idea/Solution/Prototype)</a:t>
            </a:r>
            <a:endParaRPr lang="en-US" sz="3200" u="sng" dirty="0">
              <a:solidFill>
                <a:schemeClr val="tx2"/>
              </a:solidFill>
              <a:latin typeface="Arial" pitchFamily="34" charset="0"/>
              <a:cs typeface="Arial" pitchFamily="34" charset="0"/>
            </a:endParaRPr>
          </a:p>
          <a:p>
            <a:pPr>
              <a:spcBef>
                <a:spcPts val="300"/>
              </a:spcBef>
              <a:spcAft>
                <a:spcPts val="100"/>
              </a:spcAft>
              <a:buNone/>
            </a:pPr>
            <a:r>
              <a:rPr sz="1050" b="1">
                <a:solidFill>
                  <a:srgbClr val="10366E"/>
                </a:solidFill>
                <a:latin typeface="Arial"/>
              </a:rPr>
              <a:t>• Detailed explanation of the proposed solution:</a:t>
            </a:r>
          </a:p>
          <a:p>
            <a:pPr>
              <a:spcBef>
                <a:spcPts val="100"/>
              </a:spcBef>
              <a:spcAft>
                <a:spcPts val="100"/>
              </a:spcAft>
              <a:buNone/>
            </a:pPr>
            <a:r>
              <a:rPr sz="900">
                <a:solidFill>
                  <a:srgbClr val="212529"/>
                </a:solidFill>
                <a:latin typeface="Arial"/>
              </a:rPr>
              <a:t>  - An AI weather-intelligence system that watches an 18-hour video sequence of satellite cloud images (Infrared, Water Vapor, Visible) combined with ocean heat measurements to forecast tropical cyclone strength 24 hours ahead.</a:t>
            </a:r>
          </a:p>
          <a:p>
            <a:pPr>
              <a:spcBef>
                <a:spcPts val="100"/>
              </a:spcBef>
              <a:spcAft>
                <a:spcPts val="100"/>
              </a:spcAft>
              <a:buNone/>
            </a:pPr>
            <a:r>
              <a:rPr sz="900">
                <a:solidFill>
                  <a:srgbClr val="212529"/>
                </a:solidFill>
                <a:latin typeface="Arial"/>
              </a:rPr>
              <a:t>  - Dual-Brain Architecture: A Computer Vision network analyzes cloud rotation and eye formation, while an Ocean-Atmosphere model evaluates whether the sea has enough heat energy to fuel sudden storm growth.</a:t>
            </a:r>
          </a:p>
          <a:p>
            <a:pPr>
              <a:spcBef>
                <a:spcPts val="300"/>
              </a:spcBef>
              <a:spcAft>
                <a:spcPts val="100"/>
              </a:spcAft>
              <a:buNone/>
            </a:pPr>
            <a:r>
              <a:rPr sz="1050" b="1">
                <a:solidFill>
                  <a:srgbClr val="10366E"/>
                </a:solidFill>
                <a:latin typeface="Arial"/>
              </a:rPr>
              <a:t>• How it addresses the problem:</a:t>
            </a:r>
          </a:p>
          <a:p>
            <a:pPr>
              <a:spcBef>
                <a:spcPts val="100"/>
              </a:spcBef>
              <a:spcAft>
                <a:spcPts val="100"/>
              </a:spcAft>
              <a:buNone/>
            </a:pPr>
            <a:r>
              <a:rPr sz="900">
                <a:solidFill>
                  <a:srgbClr val="212529"/>
                </a:solidFill>
                <a:latin typeface="Arial"/>
              </a:rPr>
              <a:t>  - Solves the Deadly Rapid Intensification Blindspot: Most casualties occur when weak storms unexpectedly explode into monster cyclones right before landfall. Our AI detects this up to 21 hours early, giving disaster managers crucial lead time to evacuate coastlines.</a:t>
            </a:r>
          </a:p>
          <a:p>
            <a:pPr>
              <a:spcBef>
                <a:spcPts val="100"/>
              </a:spcBef>
              <a:spcAft>
                <a:spcPts val="100"/>
              </a:spcAft>
              <a:buNone/>
            </a:pPr>
            <a:r>
              <a:rPr sz="900">
                <a:solidFill>
                  <a:srgbClr val="212529"/>
                </a:solidFill>
                <a:latin typeface="Arial"/>
              </a:rPr>
              <a:t>  - Saves Evacuation Budgets &amp; Stops False Alarms: Distinguishes between storms that will intensify and those dying over cooler waters, avoiding unnecessary multi-crore evacuation expenses.</a:t>
            </a:r>
          </a:p>
          <a:p>
            <a:pPr>
              <a:spcBef>
                <a:spcPts val="100"/>
              </a:spcBef>
              <a:spcAft>
                <a:spcPts val="100"/>
              </a:spcAft>
              <a:buNone/>
            </a:pPr>
            <a:r>
              <a:rPr sz="900">
                <a:solidFill>
                  <a:srgbClr val="212529"/>
                </a:solidFill>
                <a:latin typeface="Arial"/>
              </a:rPr>
              <a:t>  - Provides Continuous 24h Wind Guidance: Anchors predictions to live observations, giving disaster responders reliable wind speeds at +6h, +12h, and +24h horizons.</a:t>
            </a:r>
          </a:p>
          <a:p>
            <a:pPr>
              <a:spcBef>
                <a:spcPts val="300"/>
              </a:spcBef>
              <a:spcAft>
                <a:spcPts val="100"/>
              </a:spcAft>
              <a:buNone/>
            </a:pPr>
            <a:r>
              <a:rPr sz="1050" b="1">
                <a:solidFill>
                  <a:srgbClr val="10366E"/>
                </a:solidFill>
                <a:latin typeface="Arial"/>
              </a:rPr>
              <a:t>• Innovation and uniqueness of the solution:</a:t>
            </a:r>
          </a:p>
          <a:p>
            <a:pPr>
              <a:spcBef>
                <a:spcPts val="100"/>
              </a:spcBef>
              <a:spcAft>
                <a:spcPts val="100"/>
              </a:spcAft>
              <a:buNone/>
            </a:pPr>
            <a:r>
              <a:rPr sz="900">
                <a:solidFill>
                  <a:srgbClr val="212529"/>
                </a:solidFill>
                <a:latin typeface="Arial"/>
              </a:rPr>
              <a:t>  - First Cloud + Ocean Dual AI: Combines satellite cloud visuals with ocean heat maps, checking both the storm's appearance and the oceanic fuel powering it.</a:t>
            </a:r>
          </a:p>
          <a:p>
            <a:pPr>
              <a:spcBef>
                <a:spcPts val="100"/>
              </a:spcBef>
              <a:spcAft>
                <a:spcPts val="100"/>
              </a:spcAft>
              <a:buNone/>
            </a:pPr>
            <a:r>
              <a:rPr sz="900">
                <a:solidFill>
                  <a:srgbClr val="212529"/>
                </a:solidFill>
                <a:latin typeface="Arial"/>
              </a:rPr>
              <a:t>  - Seamless 24/7 Day-and-Night Operation: Specially engineered to work continuously after sunset when visible optical satellite cameras go dark.</a:t>
            </a:r>
          </a:p>
          <a:p>
            <a:pPr>
              <a:spcBef>
                <a:spcPts val="100"/>
              </a:spcBef>
              <a:spcAft>
                <a:spcPts val="100"/>
              </a:spcAft>
              <a:buNone/>
            </a:pPr>
            <a:r>
              <a:rPr sz="900">
                <a:solidFill>
                  <a:srgbClr val="212529"/>
                </a:solidFill>
                <a:latin typeface="Arial"/>
              </a:rPr>
              <a:t>  - Proven on 1,285 Real Cyclones: Built and validated on 15+ years of real global storm lifecycles with an interactive, live-deployed forecaster web dashboard.</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15363" name="Picture 15362" descr="workstation_preview.png"/>
          <p:cNvPicPr>
            <a:picLocks noChangeAspect="1"/>
          </p:cNvPicPr>
          <p:nvPr/>
        </p:nvPicPr>
        <p:blipFill>
          <a:blip r:embed="rId4"/>
          <a:stretch>
            <a:fillRect/>
          </a:stretch>
        </p:blipFill>
        <p:spPr>
          <a:xfrm>
            <a:off x="548640" y="1280160"/>
            <a:ext cx="4937760" cy="3108960"/>
          </a:xfrm>
          <a:prstGeom prst="rect">
            <a:avLst/>
          </a:prstGeom>
        </p:spPr>
      </p:pic>
      <p:sp>
        <p:nvSpPr>
          <p:cNvPr id="15364" name="TextBox 15363"/>
          <p:cNvSpPr txBox="1"/>
          <p:nvPr/>
        </p:nvSpPr>
        <p:spPr>
          <a:xfrm>
            <a:off x="548640" y="4434840"/>
            <a:ext cx="4937760" cy="1737360"/>
          </a:xfrm>
          <a:prstGeom prst="rect">
            <a:avLst/>
          </a:prstGeom>
          <a:noFill/>
        </p:spPr>
        <p:txBody>
          <a:bodyPr wrap="square">
            <a:spAutoFit/>
          </a:bodyPr>
          <a:lstStyle/>
          <a:p>
            <a:pPr>
              <a:spcAft>
                <a:spcPts val="200"/>
              </a:spcAft>
              <a:buNone/>
              <a:defRPr sz="1000" b="1">
                <a:solidFill>
                  <a:srgbClr val="10366E"/>
                </a:solidFill>
                <a:latin typeface="Arial"/>
              </a:defRPr>
            </a:pPr>
            <a:r>
              <a:t>▲ Live Operational Meteorological Workstation (Deployed):</a:t>
            </a:r>
          </a:p>
          <a:p>
            <a:pPr>
              <a:buNone/>
              <a:defRPr sz="900">
                <a:solidFill>
                  <a:srgbClr val="212529"/>
                </a:solidFill>
                <a:latin typeface="Arial"/>
              </a:defRPr>
            </a:pPr>
            <a:r>
              <a:t>A serious weather analysis dashboard built for mission-control centers. Features multi-band satellite viewing, eyewall reticles, live RI hazard gauges, and continuous 24-hour wind forecasts across 14 global cyclones.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a:xfrm>
            <a:off x="1691640" y="137160"/>
            <a:ext cx="8046720" cy="822960"/>
          </a:xfrm>
        </p:spPr>
        <p:txBody>
          <a:bodyPr/>
          <a:lstStyle/>
          <a:p>
            <a:pPr>
              <a:buNone/>
              <a:defRPr sz="2100" b="1">
                <a:solidFill>
                  <a:srgbClr val="10366E"/>
                </a:solidFill>
                <a:latin typeface="Arial"/>
              </a:defRPr>
            </a:pPr>
            <a:r>
              <a:t>TECHNICAL APPROACH &amp; MODEL ARCHITECTURE</a:t>
            </a:r>
          </a:p>
        </p:txBody>
      </p:sp>
      <p:sp>
        <p:nvSpPr>
          <p:cNvPr id="17410" name="TextBox 8"/>
          <p:cNvSpPr txBox="1">
            <a:spLocks noChangeArrowheads="1"/>
          </p:cNvSpPr>
          <p:nvPr/>
        </p:nvSpPr>
        <p:spPr bwMode="auto">
          <a:xfrm>
            <a:off x="548640" y="4343400"/>
            <a:ext cx="11091672" cy="2011680"/>
          </a:xfrm>
          <a:prstGeom prst="rect">
            <a:avLst/>
          </a:prstGeom>
          <a:noFill/>
          <a:ln w="9525">
            <a:noFill/>
            <a:miter lim="800000"/>
            <a:headEnd/>
            <a:tailEnd/>
          </a:ln>
        </p:spPr>
        <p:txBody>
          <a:bodyPr wrap="square">
            <a:spAutoFit/>
          </a:bodyPr>
          <a:lstStyle/>
          <a:p>
            <a:pPr marL="342900" indent="-342900" algn="just">
              <a:spcBef>
                <a:spcPts val="200"/>
              </a:spcBef>
              <a:spcAft>
                <a:spcPts val="100"/>
              </a:spcAft>
              <a:buNone/>
            </a:pPr>
            <a:r>
              <a:rPr sz="1000" b="1">
                <a:solidFill>
                  <a:srgbClr val="10366E"/>
                </a:solidFill>
                <a:latin typeface="Arial"/>
              </a:rPr>
              <a:t>• Technologies to be used (e.g. programming languages, frameworks, hardware):</a:t>
            </a:r>
          </a:p>
          <a:p>
            <a:pPr>
              <a:spcBef>
                <a:spcPts val="100"/>
              </a:spcBef>
              <a:spcAft>
                <a:spcPts val="100"/>
              </a:spcAft>
              <a:buNone/>
            </a:pPr>
            <a:r>
              <a:rPr sz="850">
                <a:solidFill>
                  <a:srgbClr val="212529"/>
                </a:solidFill>
                <a:latin typeface="Arial"/>
              </a:rPr>
              <a:t>  - Core Software &amp; AI Stack: Python 3.11, PyTorch 2.4, TorchVision, CUDA 12, Mixed-Precision (FP16 GradScaler) for rapid high-throughput processing.</a:t>
            </a:r>
          </a:p>
          <a:p>
            <a:pPr>
              <a:spcBef>
                <a:spcPts val="100"/>
              </a:spcBef>
              <a:spcAft>
                <a:spcPts val="100"/>
              </a:spcAft>
              <a:buNone/>
            </a:pPr>
            <a:r>
              <a:rPr sz="850">
                <a:solidFill>
                  <a:srgbClr val="212529"/>
                </a:solidFill>
                <a:latin typeface="Arial"/>
              </a:rPr>
              <a:t>  - Model Components: ResNet-18 Computer Vision Encoder + 18-Hour Temporal Transformer (8 attention heads) + Cross-Attention Ocean-Atmosphere Fusion Layer.</a:t>
            </a:r>
          </a:p>
          <a:p>
            <a:pPr>
              <a:spcBef>
                <a:spcPts val="100"/>
              </a:spcBef>
              <a:spcAft>
                <a:spcPts val="100"/>
              </a:spcAft>
              <a:buNone/>
            </a:pPr>
            <a:r>
              <a:rPr sz="850">
                <a:solidFill>
                  <a:srgbClr val="212529"/>
                </a:solidFill>
                <a:latin typeface="Arial"/>
              </a:rPr>
              <a:t>  - Deployment &amp; Efficiency: Containerized with Docker / TorchScript for sub-second operational inference (&lt;150 ms per storm cycle on GPU, &lt;1.2s on standard CPU).</a:t>
            </a:r>
          </a:p>
          <a:p>
            <a:pPr>
              <a:spcBef>
                <a:spcPts val="200"/>
              </a:spcBef>
              <a:spcAft>
                <a:spcPts val="100"/>
              </a:spcAft>
              <a:buNone/>
            </a:pPr>
            <a:r>
              <a:rPr sz="1000" b="1">
                <a:solidFill>
                  <a:srgbClr val="10366E"/>
                </a:solidFill>
                <a:latin typeface="Arial"/>
              </a:rPr>
              <a:t>• Methodology and process for implementation (Flow Charts/Images/ working prototype):</a:t>
            </a:r>
          </a:p>
          <a:p>
            <a:pPr>
              <a:spcBef>
                <a:spcPts val="100"/>
              </a:spcBef>
              <a:spcAft>
                <a:spcPts val="100"/>
              </a:spcAft>
              <a:buNone/>
            </a:pPr>
            <a:r>
              <a:rPr sz="850">
                <a:solidFill>
                  <a:srgbClr val="212529"/>
                </a:solidFill>
                <a:latin typeface="Arial"/>
              </a:rPr>
              <a:t>  - Step 1 (Inputs): Streams 7 historical satellite images (18h history) across Infrared (cloud temps), Water Vapor (upper moisture), and Visible bands, combined with 5 ocean parameters (SST, Ocean Heat Content, Wind Shear, Mid-level Moisture, Pressure).</a:t>
            </a:r>
          </a:p>
          <a:p>
            <a:pPr>
              <a:spcBef>
                <a:spcPts val="100"/>
              </a:spcBef>
              <a:spcAft>
                <a:spcPts val="100"/>
              </a:spcAft>
              <a:buNone/>
            </a:pPr>
            <a:r>
              <a:rPr sz="850">
                <a:solidFill>
                  <a:srgbClr val="212529"/>
                </a:solidFill>
                <a:latin typeface="Arial"/>
              </a:rPr>
              <a:t>  - Step 2 (AI Processing): Computer Vision extracts eyewall formation; Temporal Transformer tracks storm momentum; Cross-Attention fuses visuals with ocean thermodynamic fuel.</a:t>
            </a:r>
          </a:p>
          <a:p>
            <a:pPr>
              <a:spcBef>
                <a:spcPts val="100"/>
              </a:spcBef>
              <a:spcAft>
                <a:spcPts val="100"/>
              </a:spcAft>
              <a:buNone/>
            </a:pPr>
            <a:r>
              <a:rPr sz="850">
                <a:solidFill>
                  <a:srgbClr val="212529"/>
                </a:solidFill>
                <a:latin typeface="Arial"/>
              </a:rPr>
              <a:t>  - Step 3 (Three Outputs): Simultaneously delivers Rapid Intensification Early Warning (P(RI)), 3-Class Trend (Weakening/Stable/Intensifying), and Continuous Wind Speed Forecast (+6h, +12h, +24h).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17411" name="Picture 17410" descr="slide3_technical_architecture_flowchart.png"/>
          <p:cNvPicPr>
            <a:picLocks noChangeAspect="1"/>
          </p:cNvPicPr>
          <p:nvPr/>
        </p:nvPicPr>
        <p:blipFill>
          <a:blip r:embed="rId4"/>
          <a:stretch>
            <a:fillRect/>
          </a:stretch>
        </p:blipFill>
        <p:spPr>
          <a:xfrm>
            <a:off x="548640" y="1188720"/>
            <a:ext cx="11091672" cy="30175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691640" y="137160"/>
            <a:ext cx="8046720" cy="822960"/>
          </a:xfrm>
        </p:spPr>
        <p:txBody>
          <a:bodyPr/>
          <a:lstStyle/>
          <a:p>
            <a:pPr>
              <a:buNone/>
              <a:defRPr sz="2100" b="1">
                <a:solidFill>
                  <a:srgbClr val="10366E"/>
                </a:solidFill>
                <a:latin typeface="Arial"/>
              </a:defRPr>
            </a:pPr>
            <a:r>
              <a:t>FEASIBILITY, VIABILITY &amp; MODEL VALIDATION</a:t>
            </a:r>
          </a:p>
        </p:txBody>
      </p:sp>
      <p:sp>
        <p:nvSpPr>
          <p:cNvPr id="17410" name="TextBox 8"/>
          <p:cNvSpPr txBox="1">
            <a:spLocks noChangeArrowheads="1"/>
          </p:cNvSpPr>
          <p:nvPr/>
        </p:nvSpPr>
        <p:spPr bwMode="auto">
          <a:xfrm>
            <a:off x="548640" y="4343400"/>
            <a:ext cx="11091672" cy="201168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ts val="200"/>
              </a:spcBef>
              <a:spcAft>
                <a:spcPts val="100"/>
              </a:spcAft>
              <a:buClrTx/>
              <a:buSzTx/>
              <a:tabLst/>
              <a:defRPr/>
              <a:buNone/>
            </a:pPr>
            <a:r>
              <a:rPr sz="1000" b="1">
                <a:solidFill>
                  <a:srgbClr val="10366E"/>
                </a:solidFill>
                <a:latin typeface="Arial"/>
              </a:rPr>
              <a:t>• Analysis of the feasibility of the idea:</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a:spcBef>
                <a:spcPts val="100"/>
              </a:spcBef>
              <a:spcAft>
                <a:spcPts val="100"/>
              </a:spcAft>
              <a:buNone/>
            </a:pPr>
            <a:r>
              <a:rPr sz="850">
                <a:solidFill>
                  <a:srgbClr val="212529"/>
                </a:solidFill>
                <a:latin typeface="Arial"/>
              </a:rPr>
              <a:t>  - Empirically Proven on 187 Completely Unseen Cyclones: Validated on 7,901 held-out multi-modal sequences with zero data leakage.</a:t>
            </a:r>
          </a:p>
          <a:p>
            <a:pPr>
              <a:spcBef>
                <a:spcPts val="100"/>
              </a:spcBef>
              <a:spcAft>
                <a:spcPts val="100"/>
              </a:spcAft>
              <a:buNone/>
            </a:pPr>
            <a:r>
              <a:rPr sz="850">
                <a:solidFill>
                  <a:srgbClr val="212529"/>
                </a:solidFill>
                <a:latin typeface="Arial"/>
              </a:rPr>
              <a:t>  - Remarkable Accuracy on Major Severe Storms: Above plots prove real performance on Typhoon Guchol (5.46 kt error, 94.3% trend accuracy) and Hurricane Blas (6.63 kt error, 83.1% trend accuracy), accurately anticipating explosive surges.</a:t>
            </a:r>
          </a:p>
          <a:p>
            <a:pPr>
              <a:spcBef>
                <a:spcPts val="200"/>
              </a:spcBef>
              <a:spcAft>
                <a:spcPts val="100"/>
              </a:spcAft>
              <a:buNone/>
            </a:pPr>
            <a:r>
              <a:rPr sz="1000" b="1">
                <a:solidFill>
                  <a:srgbClr val="10366E"/>
                </a:solidFill>
                <a:latin typeface="Arial"/>
              </a:rPr>
              <a:t>• Potential challenges and risks:</a:t>
            </a:r>
          </a:p>
          <a:p>
            <a:pPr>
              <a:spcBef>
                <a:spcPts val="100"/>
              </a:spcBef>
              <a:spcAft>
                <a:spcPts val="100"/>
              </a:spcAft>
              <a:buNone/>
            </a:pPr>
            <a:r>
              <a:rPr sz="850">
                <a:solidFill>
                  <a:srgbClr val="212529"/>
                </a:solidFill>
                <a:latin typeface="Arial"/>
              </a:rPr>
              <a:t>  - Operational Challenge 1 (Nighttime Optical Blindness): Visible satellite channels go black at night, blinding ordinary image models.</a:t>
            </a:r>
          </a:p>
          <a:p>
            <a:pPr>
              <a:spcBef>
                <a:spcPts val="100"/>
              </a:spcBef>
              <a:spcAft>
                <a:spcPts val="100"/>
              </a:spcAft>
              <a:buNone/>
            </a:pPr>
            <a:r>
              <a:rPr sz="850">
                <a:solidFill>
                  <a:srgbClr val="212529"/>
                </a:solidFill>
                <a:latin typeface="Arial"/>
              </a:rPr>
              <a:t>  - Operational Challenge 2 (Sensor Delay / Missing Ocean Data): Real-time buoys or weather model updates can be delayed or missing.</a:t>
            </a:r>
          </a:p>
          <a:p>
            <a:pPr>
              <a:spcBef>
                <a:spcPts val="200"/>
              </a:spcBef>
              <a:spcAft>
                <a:spcPts val="100"/>
              </a:spcAft>
              <a:buNone/>
            </a:pPr>
            <a:r>
              <a:rPr sz="1000" b="1">
                <a:solidFill>
                  <a:srgbClr val="10366E"/>
                </a:solidFill>
                <a:latin typeface="Arial"/>
              </a:rPr>
              <a:t>• Strategies for overcoming these challenges:</a:t>
            </a:r>
          </a:p>
          <a:p>
            <a:pPr>
              <a:spcBef>
                <a:spcPts val="100"/>
              </a:spcBef>
              <a:spcAft>
                <a:spcPts val="100"/>
              </a:spcAft>
              <a:buNone/>
            </a:pPr>
            <a:r>
              <a:rPr sz="850">
                <a:solidFill>
                  <a:srgbClr val="212529"/>
                </a:solidFill>
                <a:latin typeface="Arial"/>
              </a:rPr>
              <a:t>  - Learned Day-Night Masking: Our network automatically toggles optical channels off at night while relying on thermal Infrared (10.8µm) and Water Vapor (6.7µm) for continuous 24/7 uninterrupted forecasting.</a:t>
            </a:r>
          </a:p>
          <a:p>
            <a:pPr>
              <a:spcBef>
                <a:spcPts val="100"/>
              </a:spcBef>
              <a:spcAft>
                <a:spcPts val="100"/>
              </a:spcAft>
              <a:buNone/>
            </a:pPr>
            <a:r>
              <a:rPr sz="850">
                <a:solidFill>
                  <a:srgbClr val="212529"/>
                </a:solidFill>
                <a:latin typeface="Arial"/>
              </a:rPr>
              <a:t>  - Robust Feature Gating: Model trained with missing-value indicator masks, maintaining high accuracy even when ocean measurements are partially delayed.</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17411" name="Picture 17410" descr="slide4_least_error_cyclones.png"/>
          <p:cNvPicPr>
            <a:picLocks noChangeAspect="1"/>
          </p:cNvPicPr>
          <p:nvPr/>
        </p:nvPicPr>
        <p:blipFill>
          <a:blip r:embed="rId4"/>
          <a:stretch>
            <a:fillRect/>
          </a:stretch>
        </p:blipFill>
        <p:spPr>
          <a:xfrm>
            <a:off x="548640" y="1188720"/>
            <a:ext cx="11091672" cy="3017520"/>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691640" y="137160"/>
            <a:ext cx="8046720" cy="822960"/>
          </a:xfrm>
        </p:spPr>
        <p:txBody>
          <a:bodyPr/>
          <a:lstStyle/>
          <a:p>
            <a:pPr>
              <a:buNone/>
              <a:defRPr sz="2100" b="1">
                <a:solidFill>
                  <a:srgbClr val="10366E"/>
                </a:solidFill>
                <a:latin typeface="Arial"/>
              </a:defRPr>
            </a:pPr>
            <a:r>
              <a:t>IMPACT, BENEFITS &amp; PROJECT ROADMAP</a:t>
            </a:r>
          </a:p>
        </p:txBody>
      </p:sp>
      <p:sp>
        <p:nvSpPr>
          <p:cNvPr id="17410" name="TextBox 8"/>
          <p:cNvSpPr txBox="1">
            <a:spLocks noChangeArrowheads="1"/>
          </p:cNvSpPr>
          <p:nvPr/>
        </p:nvSpPr>
        <p:spPr bwMode="auto">
          <a:xfrm>
            <a:off x="548640" y="4343400"/>
            <a:ext cx="11091672" cy="201168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ts val="200"/>
              </a:spcBef>
              <a:spcAft>
                <a:spcPts val="100"/>
              </a:spcAft>
              <a:buClrTx/>
              <a:buSzTx/>
              <a:tabLst/>
              <a:defRPr/>
              <a:buNone/>
            </a:pPr>
            <a:r>
              <a:rPr sz="1000" b="1">
                <a:solidFill>
                  <a:srgbClr val="10366E"/>
                </a:solidFill>
                <a:latin typeface="Arial"/>
              </a:rPr>
              <a:t>• Potential impact on the target audience (Disaster Authorities, Ports &amp; Public):</a:t>
            </a:r>
          </a:p>
          <a:p>
            <a:pPr>
              <a:spcBef>
                <a:spcPts val="100"/>
              </a:spcBef>
              <a:spcAft>
                <a:spcPts val="100"/>
              </a:spcAft>
              <a:buNone/>
            </a:pPr>
            <a:r>
              <a:rPr sz="850">
                <a:solidFill>
                  <a:srgbClr val="212529"/>
                </a:solidFill>
                <a:latin typeface="Arial"/>
              </a:rPr>
              <a:t>  - State Disaster Management Authorities (SDMAs &amp; NDRF): Receive actionable Rapid Intensification alerts 18–21 hours earlier, enabling timely mass evacuations of vulnerable coastal districts before roads flood.</a:t>
            </a:r>
          </a:p>
          <a:p>
            <a:pPr>
              <a:spcBef>
                <a:spcPts val="100"/>
              </a:spcBef>
              <a:spcAft>
                <a:spcPts val="100"/>
              </a:spcAft>
              <a:buNone/>
            </a:pPr>
            <a:r>
              <a:rPr sz="850">
                <a:solidFill>
                  <a:srgbClr val="212529"/>
                </a:solidFill>
                <a:latin typeface="Arial"/>
              </a:rPr>
              <a:t>  - Port Authorities &amp; Maritime Shipping: Accurate 24h trend guidance prevents premature shutdowns of major commercial ports while protecting deep-sea fishing trawlers.</a:t>
            </a:r>
          </a:p>
          <a:p>
            <a:pPr>
              <a:spcBef>
                <a:spcPts val="100"/>
              </a:spcBef>
              <a:spcAft>
                <a:spcPts val="100"/>
              </a:spcAft>
              <a:buNone/>
            </a:pPr>
            <a:r>
              <a:rPr sz="850">
                <a:solidFill>
                  <a:srgbClr val="212529"/>
                </a:solidFill>
                <a:latin typeface="Arial"/>
              </a:rPr>
              <a:t>  - Vulnerable Coastal Populations: Millions of citizens in Odisha, Andhra Pradesh, Tamil Nadu, and Gujarat gain lifesaving warning windows.</a:t>
            </a:r>
          </a:p>
          <a:p>
            <a:pPr>
              <a:spcBef>
                <a:spcPts val="200"/>
              </a:spcBef>
              <a:spcAft>
                <a:spcPts val="100"/>
              </a:spcAft>
              <a:buNone/>
            </a:pPr>
            <a:r>
              <a:rPr sz="1000" b="1">
                <a:solidFill>
                  <a:srgbClr val="10366E"/>
                </a:solidFill>
                <a:latin typeface="Arial"/>
              </a:rPr>
              <a:t>• Benefits of the solution (social, economic, environmental, etc.):</a:t>
            </a:r>
          </a:p>
          <a:p>
            <a:pPr>
              <a:spcBef>
                <a:spcPts val="100"/>
              </a:spcBef>
              <a:spcAft>
                <a:spcPts val="100"/>
              </a:spcAft>
              <a:buNone/>
            </a:pPr>
            <a:r>
              <a:rPr sz="850">
                <a:solidFill>
                  <a:srgbClr val="212529"/>
                </a:solidFill>
                <a:latin typeface="Arial"/>
              </a:rPr>
              <a:t>  - Economic Benefit (₹50–100+ Crores Saved per Event): Massive evacuations cost state exchequers hundreds of crores. Distinguishing dying storms from escalating monsters eliminates costly false alarms.</a:t>
            </a:r>
          </a:p>
          <a:p>
            <a:pPr>
              <a:spcBef>
                <a:spcPts val="100"/>
              </a:spcBef>
              <a:spcAft>
                <a:spcPts val="100"/>
              </a:spcAft>
              <a:buNone/>
            </a:pPr>
            <a:r>
              <a:rPr sz="850">
                <a:solidFill>
                  <a:srgbClr val="212529"/>
                </a:solidFill>
                <a:latin typeface="Arial"/>
              </a:rPr>
              <a:t>  - Social Benefit (Zero Casualty Target): Directly supports India's mission for Zero Human Casualties during severe cyclone seasons.</a:t>
            </a:r>
          </a:p>
          <a:p>
            <a:pPr>
              <a:spcBef>
                <a:spcPts val="100"/>
              </a:spcBef>
              <a:spcAft>
                <a:spcPts val="100"/>
              </a:spcAft>
              <a:buNone/>
            </a:pPr>
            <a:r>
              <a:rPr sz="850">
                <a:solidFill>
                  <a:srgbClr val="212529"/>
                </a:solidFill>
                <a:latin typeface="Arial"/>
              </a:rPr>
              <a:t>  - Environmental &amp; Infrastructure: Secures coastal oil refineries, power grids, and ports against surprise landfall intensification.</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17411" name="Picture 17410" descr="slide5_roadmap_infographic.png"/>
          <p:cNvPicPr>
            <a:picLocks noChangeAspect="1"/>
          </p:cNvPicPr>
          <p:nvPr/>
        </p:nvPicPr>
        <p:blipFill>
          <a:blip r:embed="rId4"/>
          <a:stretch>
            <a:fillRect/>
          </a:stretch>
        </p:blipFill>
        <p:spPr>
          <a:xfrm>
            <a:off x="548640" y="1188720"/>
            <a:ext cx="11091672" cy="3017520"/>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1691640" y="137160"/>
            <a:ext cx="8046720" cy="822960"/>
          </a:xfrm>
        </p:spPr>
        <p:txBody>
          <a:bodyPr/>
          <a:lstStyle/>
          <a:p>
            <a:pPr>
              <a:buNone/>
              <a:defRPr sz="2100" b="1">
                <a:solidFill>
                  <a:srgbClr val="10366E"/>
                </a:solidFill>
                <a:latin typeface="Arial"/>
              </a:defRPr>
            </a:pPr>
            <a:r>
              <a:t>RESEARCH, REFERENCES &amp; BENCHMARKS</a:t>
            </a:r>
          </a:p>
        </p:txBody>
      </p:sp>
      <p:sp>
        <p:nvSpPr>
          <p:cNvPr id="17410" name="TextBox 8"/>
          <p:cNvSpPr txBox="1">
            <a:spLocks noChangeArrowheads="1"/>
          </p:cNvSpPr>
          <p:nvPr/>
        </p:nvSpPr>
        <p:spPr bwMode="auto">
          <a:xfrm>
            <a:off x="548640" y="4343400"/>
            <a:ext cx="11091672" cy="201168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ts val="200"/>
              </a:spcBef>
              <a:spcAft>
                <a:spcPts val="100"/>
              </a:spcAft>
              <a:buClrTx/>
              <a:buSzTx/>
              <a:tabLst/>
              <a:defRPr/>
              <a:buNone/>
            </a:pPr>
            <a:r>
              <a:rPr sz="1000" b="1">
                <a:solidFill>
                  <a:srgbClr val="10366E"/>
                </a:solidFill>
                <a:latin typeface="Arial"/>
              </a:rPr>
              <a:t>• Details / Links of the reference and research work:</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a:spcBef>
                <a:spcPts val="100"/>
              </a:spcBef>
              <a:spcAft>
                <a:spcPts val="100"/>
              </a:spcAft>
              <a:buNone/>
            </a:pPr>
            <a:r>
              <a:rPr sz="850">
                <a:solidFill>
                  <a:srgbClr val="212529"/>
                </a:solidFill>
                <a:latin typeface="Arial"/>
              </a:rPr>
              <a:t>  - Authoritative Datasets: TCIR Global Satellite Benchmark (70,499 images, 1,285 cyclones, 15+ years), NOAA National Hurricane Center (NHC HURDAT2), Joint Typhoon Warning Center (JTWC), and NOAA SHIPS Environmental Database.</a:t>
            </a:r>
          </a:p>
          <a:p>
            <a:pPr>
              <a:spcBef>
                <a:spcPts val="100"/>
              </a:spcBef>
              <a:spcAft>
                <a:spcPts val="100"/>
              </a:spcAft>
              <a:buNone/>
            </a:pPr>
            <a:r>
              <a:rPr sz="850">
                <a:solidFill>
                  <a:srgbClr val="212529"/>
                </a:solidFill>
                <a:latin typeface="Arial"/>
              </a:rPr>
              <a:t>  - Meteorological Standards &amp; Baselines: IMD Official Cyclone Forecast Guidelines (WMO Technical Documents), Kaplan &amp; DeMaria (2003) Rapid Intensification Index (RII), and Dvorak Satellite Intensity Analysis.</a:t>
            </a:r>
          </a:p>
          <a:p>
            <a:pPr>
              <a:spcBef>
                <a:spcPts val="100"/>
              </a:spcBef>
              <a:spcAft>
                <a:spcPts val="100"/>
              </a:spcAft>
              <a:buNone/>
            </a:pPr>
            <a:r>
              <a:rPr sz="850">
                <a:solidFill>
                  <a:srgbClr val="212529"/>
                </a:solidFill>
                <a:latin typeface="Arial"/>
              </a:rPr>
              <a:t>  - Scientific Architecture: Vaswani et al. (2017) 'Attention Is All You Need' (Temporal Transformer), He et al. (2016) 'Deep Residual Learning' (ResNet-18), and Chen et al. (2020) TCIR Benchmark.</a:t>
            </a:r>
          </a:p>
          <a:p>
            <a:pPr>
              <a:spcBef>
                <a:spcPts val="100"/>
              </a:spcBef>
              <a:spcAft>
                <a:spcPts val="100"/>
              </a:spcAft>
              <a:buNone/>
            </a:pPr>
            <a:r>
              <a:rPr sz="850">
                <a:solidFill>
                  <a:srgbClr val="212529"/>
                </a:solidFill>
                <a:latin typeface="Arial"/>
              </a:rPr>
              <a:t>  - Open Source &amp; Live Deployment: Fully reproducible repository with unit tests, trained model weights, and live web workstation at: https://github.com/theDivinePenguin/cycml | https://thedivinepenguin.github.io/cycml/</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17411" name="Picture 17410" descr="slide6_benchmark_comparison.png"/>
          <p:cNvPicPr>
            <a:picLocks noChangeAspect="1"/>
          </p:cNvPicPr>
          <p:nvPr/>
        </p:nvPicPr>
        <p:blipFill>
          <a:blip r:embed="rId4"/>
          <a:stretch>
            <a:fillRect/>
          </a:stretch>
        </p:blipFill>
        <p:spPr>
          <a:xfrm>
            <a:off x="548640" y="1188720"/>
            <a:ext cx="11091672" cy="3017520"/>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