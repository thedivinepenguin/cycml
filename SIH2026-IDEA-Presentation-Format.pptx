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 id="297" r:id="rId8"/>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spcBef>
                <a:spcPts val="200"/>
              </a:spcBef>
              <a:spcAft>
                <a:spcPts val="1000"/>
              </a:spcAft>
              <a:buNone/>
            </a:pPr>
            <a:r>
              <a:rPr sz="1500" b="1">
                <a:solidFill>
                  <a:srgbClr val="10366E"/>
                </a:solidFill>
                <a:latin typeface="Arial"/>
              </a:rPr>
              <a:t>Problem Statement ID – </a:t>
            </a:r>
            <a:r>
              <a:rPr sz="1500" b="1">
                <a:solidFill>
                  <a:srgbClr val="212529"/>
                </a:solidFill>
                <a:latin typeface="Arial"/>
              </a:rPr>
              <a:t>26070</a:t>
            </a:r>
            <a:endParaRPr lang="en-US" dirty="0"/>
          </a:p>
          <a:p>
            <a:pPr>
              <a:spcBef>
                <a:spcPts val="200"/>
              </a:spcBef>
              <a:spcAft>
                <a:spcPts val="1000"/>
              </a:spcAft>
              <a:buNone/>
            </a:pPr>
            <a:r>
              <a:rPr sz="1500" b="1">
                <a:solidFill>
                  <a:srgbClr val="10366E"/>
                </a:solidFill>
                <a:latin typeface="Arial"/>
              </a:rPr>
              <a:t>Problem Statement Title – </a:t>
            </a:r>
            <a:r>
              <a:rPr sz="1500" b="1">
                <a:solidFill>
                  <a:srgbClr val="212529"/>
                </a:solidFill>
                <a:latin typeface="Arial"/>
              </a:rPr>
              <a:t>AI/ML-Driven Multi-Modal Spatio-Temporal Forecasting of Tropical Cyclone Intensity &amp; Rapid Intensification</a:t>
            </a:r>
          </a:p>
          <a:p>
            <a:pPr>
              <a:spcBef>
                <a:spcPts val="200"/>
              </a:spcBef>
              <a:spcAft>
                <a:spcPts val="1000"/>
              </a:spcAft>
              <a:buNone/>
            </a:pPr>
            <a:r>
              <a:rPr sz="1500" b="1">
                <a:solidFill>
                  <a:srgbClr val="10366E"/>
                </a:solidFill>
                <a:latin typeface="Arial"/>
              </a:rPr>
              <a:t>Theme – </a:t>
            </a:r>
            <a:r>
              <a:rPr sz="1500" b="1">
                <a:solidFill>
                  <a:srgbClr val="212529"/>
                </a:solidFill>
                <a:latin typeface="Arial"/>
              </a:rPr>
              <a:t>Disaster Management / Space Technology &amp; Smart Automation</a:t>
            </a:r>
          </a:p>
          <a:p>
            <a:pPr>
              <a:spcBef>
                <a:spcPts val="200"/>
              </a:spcBef>
              <a:spcAft>
                <a:spcPts val="1000"/>
              </a:spcAft>
              <a:buNone/>
            </a:pPr>
            <a:r>
              <a:rPr sz="1500" b="1">
                <a:solidFill>
                  <a:srgbClr val="10366E"/>
                </a:solidFill>
                <a:latin typeface="Arial"/>
              </a:rPr>
              <a:t>PS Category – </a:t>
            </a:r>
            <a:r>
              <a:rPr sz="1500" b="1">
                <a:solidFill>
                  <a:srgbClr val="212529"/>
                </a:solidFill>
                <a:latin typeface="Arial"/>
              </a:rPr>
              <a:t>Software</a:t>
            </a:r>
          </a:p>
          <a:p>
            <a:pPr>
              <a:spcBef>
                <a:spcPts val="200"/>
              </a:spcBef>
              <a:spcAft>
                <a:spcPts val="1000"/>
              </a:spcAft>
              <a:buNone/>
            </a:pPr>
            <a:r>
              <a:rPr sz="1500" b="1">
                <a:solidFill>
                  <a:srgbClr val="10366E"/>
                </a:solidFill>
                <a:latin typeface="Arial"/>
              </a:rPr>
              <a:t>Team ID – </a:t>
            </a:r>
            <a:r>
              <a:rPr sz="1500" b="0">
                <a:solidFill>
                  <a:srgbClr val="212529"/>
                </a:solidFill>
                <a:latin typeface="Arial"/>
              </a:rPr>
              <a:t>[Enter Registered Team ID on Portal]</a:t>
            </a:r>
          </a:p>
          <a:p>
            <a:pPr>
              <a:spcBef>
                <a:spcPts val="200"/>
              </a:spcBef>
              <a:spcAft>
                <a:spcPts val="1000"/>
              </a:spcAft>
              <a:buNone/>
            </a:pPr>
            <a:r>
              <a:rPr sz="1500" b="1">
                <a:solidFill>
                  <a:srgbClr val="10366E"/>
                </a:solidFill>
                <a:latin typeface="Arial"/>
              </a:rPr>
              <a:t>Team Name – </a:t>
            </a:r>
            <a:r>
              <a:rPr sz="1500" b="0">
                <a:solidFill>
                  <a:srgbClr val="212529"/>
                </a:solidFill>
                <a:latin typeface="Arial"/>
              </a:rPr>
              <a:t>[Enter Registered Team Name on Portal]</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691640" y="137160"/>
            <a:ext cx="8046720" cy="822960"/>
          </a:xfrm>
        </p:spPr>
        <p:txBody>
          <a:bodyPr/>
          <a:lstStyle/>
          <a:p>
            <a:pPr>
              <a:buNone/>
              <a:defRPr sz="2200" b="1">
                <a:solidFill>
                  <a:srgbClr val="10366E"/>
                </a:solidFill>
                <a:latin typeface="Arial"/>
              </a:defRPr>
            </a:pPr>
            <a:r>
              <a:t>DeepCycloNet: AI for Cyclone Tracking &amp; Rapid Intensification</a:t>
            </a:r>
          </a:p>
        </p:txBody>
      </p:sp>
      <p:sp>
        <p:nvSpPr>
          <p:cNvPr id="15362" name="TextBox 8"/>
          <p:cNvSpPr txBox="1">
            <a:spLocks noChangeArrowheads="1"/>
          </p:cNvSpPr>
          <p:nvPr/>
        </p:nvSpPr>
        <p:spPr bwMode="auto">
          <a:xfrm>
            <a:off x="5577840" y="1280160"/>
            <a:ext cx="6126480" cy="4754880"/>
          </a:xfrm>
          <a:prstGeom prst="rect">
            <a:avLst/>
          </a:prstGeom>
          <a:noFill/>
          <a:ln w="9525">
            <a:noFill/>
            <a:miter lim="800000"/>
            <a:headEnd/>
            <a:tailEnd/>
          </a:ln>
        </p:spPr>
        <p:txBody>
          <a:bodyPr wrap="square">
            <a:spAutoFit/>
          </a:bodyPr>
          <a:lstStyle/>
          <a:p>
            <a:pPr marL="342900" indent="-342900">
              <a:spcAft>
                <a:spcPts val="400"/>
              </a:spcAft>
              <a:buNone/>
              <a:defRPr sz="1400" b="1">
                <a:solidFill>
                  <a:srgbClr val="10366E"/>
                </a:solidFill>
                <a:latin typeface="Arial"/>
              </a:defRPr>
            </a:pPr>
            <a:r>
              <a:t>❖ Proposed Solution (Describe your Idea/Solution/Prototype)</a:t>
            </a:r>
            <a:endParaRPr lang="en-US" sz="3200" u="sng" dirty="0">
              <a:solidFill>
                <a:schemeClr val="tx2"/>
              </a:solidFill>
              <a:latin typeface="Arial" pitchFamily="34" charset="0"/>
              <a:cs typeface="Arial" pitchFamily="34" charset="0"/>
            </a:endParaRPr>
          </a:p>
          <a:p>
            <a:pPr>
              <a:spcBef>
                <a:spcPts val="400"/>
              </a:spcBef>
              <a:spcAft>
                <a:spcPts val="100"/>
              </a:spcAft>
              <a:buNone/>
            </a:pPr>
            <a:r>
              <a:rPr sz="1100" b="1">
                <a:solidFill>
                  <a:srgbClr val="10366E"/>
                </a:solidFill>
                <a:latin typeface="Arial"/>
              </a:rPr>
              <a:t>• Detailed explanation of the proposed solution:</a:t>
            </a:r>
          </a:p>
          <a:p>
            <a:pPr>
              <a:spcBef>
                <a:spcPts val="100"/>
              </a:spcBef>
              <a:spcAft>
                <a:spcPts val="100"/>
              </a:spcAft>
              <a:buNone/>
            </a:pPr>
            <a:r>
              <a:rPr sz="950">
                <a:solidFill>
                  <a:srgbClr val="212529"/>
                </a:solidFill>
                <a:latin typeface="Arial"/>
              </a:rPr>
              <a:t>  - An AI weather-intelligence system that watches a 12-hour video history of satellite cloud imagery (IR, Water Vapor &amp; Visible) combined with real-time ocean temperature measurements to forecast tropical cyclone strength 24 hours ahead.</a:t>
            </a:r>
          </a:p>
          <a:p>
            <a:pPr>
              <a:spcBef>
                <a:spcPts val="100"/>
              </a:spcBef>
              <a:spcAft>
                <a:spcPts val="100"/>
              </a:spcAft>
              <a:buNone/>
            </a:pPr>
            <a:r>
              <a:rPr sz="950">
                <a:solidFill>
                  <a:srgbClr val="212529"/>
                </a:solidFill>
                <a:latin typeface="Arial"/>
              </a:rPr>
              <a:t>  - How it works: A Computer Vision network analyzes cloud rotation and eye formation, while an Ocean-Atmosphere model evaluates whether the sea below has enough heat energy to fuel sudden storm growth.</a:t>
            </a:r>
          </a:p>
          <a:p>
            <a:pPr>
              <a:spcBef>
                <a:spcPts val="400"/>
              </a:spcBef>
              <a:spcAft>
                <a:spcPts val="100"/>
              </a:spcAft>
              <a:buNone/>
            </a:pPr>
            <a:r>
              <a:rPr sz="1100" b="1">
                <a:solidFill>
                  <a:srgbClr val="10366E"/>
                </a:solidFill>
                <a:latin typeface="Arial"/>
              </a:rPr>
              <a:t>• How it addresses the problem:</a:t>
            </a:r>
          </a:p>
          <a:p>
            <a:pPr>
              <a:spcBef>
                <a:spcPts val="100"/>
              </a:spcBef>
              <a:spcAft>
                <a:spcPts val="100"/>
              </a:spcAft>
              <a:buNone/>
            </a:pPr>
            <a:r>
              <a:rPr sz="950">
                <a:solidFill>
                  <a:srgbClr val="212529"/>
                </a:solidFill>
                <a:latin typeface="Arial"/>
              </a:rPr>
              <a:t>  - Solves the Deadly Rapid Intensification Blindspot: Most cyclone casualties occur when weak storms unexpectedly explode into monster hurricanes right before landfall. Our AI detects this 24 hours early, giving disaster managers crucial lead time to evacuate coastlines.</a:t>
            </a:r>
          </a:p>
          <a:p>
            <a:pPr>
              <a:spcBef>
                <a:spcPts val="100"/>
              </a:spcBef>
              <a:spcAft>
                <a:spcPts val="100"/>
              </a:spcAft>
              <a:buNone/>
            </a:pPr>
            <a:r>
              <a:rPr sz="950">
                <a:solidFill>
                  <a:srgbClr val="212529"/>
                </a:solidFill>
                <a:latin typeface="Arial"/>
              </a:rPr>
              <a:t>  - Cuts Evacuation Costs &amp; False Alarms: Distinguishes between storms that will intensify and those dying over cooler waters, avoiding unnecessary multi-crore evacuation expenses and public panic.</a:t>
            </a:r>
          </a:p>
          <a:p>
            <a:pPr>
              <a:spcBef>
                <a:spcPts val="100"/>
              </a:spcBef>
              <a:spcAft>
                <a:spcPts val="100"/>
              </a:spcAft>
              <a:buNone/>
            </a:pPr>
            <a:r>
              <a:rPr sz="950">
                <a:solidFill>
                  <a:srgbClr val="212529"/>
                </a:solidFill>
                <a:latin typeface="Arial"/>
              </a:rPr>
              <a:t>  - Reliable, Continuous Predictions: Anchors every prediction directly to the storm's current live wind speed, ensuring smooth forecasts without sudden unrealistic drop-offs.</a:t>
            </a:r>
          </a:p>
          <a:p>
            <a:pPr>
              <a:spcBef>
                <a:spcPts val="400"/>
              </a:spcBef>
              <a:spcAft>
                <a:spcPts val="100"/>
              </a:spcAft>
              <a:buNone/>
            </a:pPr>
            <a:r>
              <a:rPr sz="1100" b="1">
                <a:solidFill>
                  <a:srgbClr val="10366E"/>
                </a:solidFill>
                <a:latin typeface="Arial"/>
              </a:rPr>
              <a:t>• Innovation and uniqueness of the solution:</a:t>
            </a:r>
          </a:p>
          <a:p>
            <a:pPr>
              <a:spcBef>
                <a:spcPts val="100"/>
              </a:spcBef>
              <a:spcAft>
                <a:spcPts val="100"/>
              </a:spcAft>
              <a:buNone/>
            </a:pPr>
            <a:r>
              <a:rPr sz="950">
                <a:solidFill>
                  <a:srgbClr val="212529"/>
                </a:solidFill>
                <a:latin typeface="Arial"/>
              </a:rPr>
              <a:t>  - First Cloud + Ocean Dual AI: Combines satellite cloud visuals with ocean heat content maps, ensuring the AI checks both the storm's appearance and the oceanic fuel powering it.</a:t>
            </a:r>
          </a:p>
          <a:p>
            <a:pPr>
              <a:spcBef>
                <a:spcPts val="100"/>
              </a:spcBef>
              <a:spcAft>
                <a:spcPts val="100"/>
              </a:spcAft>
              <a:buNone/>
            </a:pPr>
            <a:r>
              <a:rPr sz="950">
                <a:solidFill>
                  <a:srgbClr val="212529"/>
                </a:solidFill>
                <a:latin typeface="Arial"/>
              </a:rPr>
              <a:t>  - Seamless 24/7 Day-and-Night Operation: Specially engineered to work continuously after sunset when visible optical satellite cameras go dark.</a:t>
            </a:r>
          </a:p>
          <a:p>
            <a:pPr>
              <a:spcBef>
                <a:spcPts val="100"/>
              </a:spcBef>
              <a:spcAft>
                <a:spcPts val="100"/>
              </a:spcAft>
              <a:buNone/>
            </a:pPr>
            <a:r>
              <a:rPr sz="950">
                <a:solidFill>
                  <a:srgbClr val="212529"/>
                </a:solidFill>
                <a:latin typeface="Arial"/>
              </a:rPr>
              <a:t>  - Proven on 1,265 Real Cyclones: Built and validated on 15+ years of real global storms with a working, interactive forecaster web dashboard.</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5363" name="Picture 15362" descr="lifecycle_lead_time_super_cyclone_phet.png"/>
          <p:cNvPicPr>
            <a:picLocks noChangeAspect="1"/>
          </p:cNvPicPr>
          <p:nvPr/>
        </p:nvPicPr>
        <p:blipFill>
          <a:blip r:embed="rId4"/>
          <a:stretch>
            <a:fillRect/>
          </a:stretch>
        </p:blipFill>
        <p:spPr>
          <a:xfrm>
            <a:off x="548640" y="1371600"/>
            <a:ext cx="4846320" cy="3017520"/>
          </a:xfrm>
          <a:prstGeom prst="rect">
            <a:avLst/>
          </a:prstGeom>
        </p:spPr>
      </p:pic>
      <p:sp>
        <p:nvSpPr>
          <p:cNvPr id="15364" name="TextBox 15363"/>
          <p:cNvSpPr txBox="1"/>
          <p:nvPr/>
        </p:nvSpPr>
        <p:spPr>
          <a:xfrm>
            <a:off x="548640" y="4462272"/>
            <a:ext cx="4846320" cy="1645920"/>
          </a:xfrm>
          <a:prstGeom prst="rect">
            <a:avLst/>
          </a:prstGeom>
          <a:noFill/>
        </p:spPr>
        <p:txBody>
          <a:bodyPr wrap="square">
            <a:spAutoFit/>
          </a:bodyPr>
          <a:lstStyle/>
          <a:p>
            <a:pPr>
              <a:spcAft>
                <a:spcPts val="200"/>
              </a:spcAft>
              <a:buNone/>
              <a:defRPr sz="1000" b="1">
                <a:solidFill>
                  <a:srgbClr val="10366E"/>
                </a:solidFill>
                <a:latin typeface="Arial"/>
              </a:defRPr>
            </a:pPr>
            <a:r>
              <a:t>▲ Live Prototype Validation on Super Cyclone Phet (North Indian Ocean):</a:t>
            </a:r>
          </a:p>
          <a:p>
            <a:pPr>
              <a:buNone/>
              <a:defRPr sz="950">
                <a:solidFill>
                  <a:srgbClr val="212529"/>
                </a:solidFill>
                <a:latin typeface="Arial"/>
              </a:defRPr>
            </a:pPr>
            <a:r>
              <a:t>The red line shows actual observed storm wind speeds. The blue curve shows our AI's 24-hour advance forecast correctly anticipating the violent Rapid Intensification surge well before landfall.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a:xfrm>
            <a:off x="1691640" y="137160"/>
            <a:ext cx="8046720" cy="822960"/>
          </a:xfrm>
        </p:spPr>
        <p:txBody>
          <a:bodyPr/>
          <a:lstStyle/>
          <a:p>
            <a:pPr>
              <a:buNone/>
              <a:defRPr sz="2200" b="1">
                <a:solidFill>
                  <a:srgbClr val="10366E"/>
                </a:solidFill>
                <a:latin typeface="Arial"/>
              </a:defRPr>
            </a:pPr>
            <a:r>
              <a:t>TECHNICAL APPROACH</a:t>
            </a:r>
          </a:p>
        </p:txBody>
      </p:sp>
      <p:sp>
        <p:nvSpPr>
          <p:cNvPr id="17410" name="TextBox 8"/>
          <p:cNvSpPr txBox="1">
            <a:spLocks noChangeArrowheads="1"/>
          </p:cNvSpPr>
          <p:nvPr/>
        </p:nvSpPr>
        <p:spPr bwMode="auto">
          <a:xfrm>
            <a:off x="731520" y="1234440"/>
            <a:ext cx="10789920" cy="4846320"/>
          </a:xfrm>
          <a:prstGeom prst="rect">
            <a:avLst/>
          </a:prstGeom>
          <a:noFill/>
          <a:ln w="9525">
            <a:noFill/>
            <a:miter lim="800000"/>
            <a:headEnd/>
            <a:tailEnd/>
          </a:ln>
        </p:spPr>
        <p:txBody>
          <a:bodyPr wrap="square">
            <a:spAutoFit/>
          </a:bodyPr>
          <a:lstStyle/>
          <a:p>
            <a:pPr marL="342900" indent="-342900" algn="just">
              <a:spcBef>
                <a:spcPts val="500"/>
              </a:spcBef>
              <a:spcAft>
                <a:spcPts val="200"/>
              </a:spcAft>
              <a:buNone/>
            </a:pPr>
            <a:r>
              <a:rPr sz="1200" b="1">
                <a:solidFill>
                  <a:srgbClr val="10366E"/>
                </a:solidFill>
                <a:latin typeface="Arial"/>
              </a:rPr>
              <a:t>• Technologies to be used (e.g. programming languages, frameworks, hardware):</a:t>
            </a:r>
          </a:p>
          <a:p>
            <a:pPr>
              <a:spcBef>
                <a:spcPts val="100"/>
              </a:spcBef>
              <a:spcAft>
                <a:spcPts val="100"/>
              </a:spcAft>
              <a:buNone/>
            </a:pPr>
            <a:r>
              <a:rPr sz="1000">
                <a:solidFill>
                  <a:srgbClr val="212529"/>
                </a:solidFill>
                <a:latin typeface="Arial"/>
              </a:rPr>
              <a:t>  - Languages &amp; Deep Learning: Python 3.11, PyTorch 2.4, TorchVision, CUDA 12, Mixed-Precision (FP16 GradScaler) for rapid high-throughput processing.</a:t>
            </a:r>
          </a:p>
          <a:p>
            <a:pPr>
              <a:spcBef>
                <a:spcPts val="100"/>
              </a:spcBef>
              <a:spcAft>
                <a:spcPts val="100"/>
              </a:spcAft>
              <a:buNone/>
            </a:pPr>
            <a:r>
              <a:rPr sz="1000">
                <a:solidFill>
                  <a:srgbClr val="212529"/>
                </a:solidFill>
                <a:latin typeface="Arial"/>
              </a:rPr>
              <a:t>  - Model Architecture: Frame-Shared ResNet-18 Feature Extractor, 2-Layer Temporal Transformer (8 attention heads, d_model=256), Gated Environmental Fusion MLP.</a:t>
            </a:r>
          </a:p>
          <a:p>
            <a:pPr>
              <a:spcBef>
                <a:spcPts val="100"/>
              </a:spcBef>
              <a:spcAft>
                <a:spcPts val="100"/>
              </a:spcAft>
              <a:buNone/>
            </a:pPr>
            <a:r>
              <a:rPr sz="1000">
                <a:solidFill>
                  <a:srgbClr val="212529"/>
                </a:solidFill>
                <a:latin typeface="Arial"/>
              </a:rPr>
              <a:t>  - Scientific Stack: NumPy, Pandas, HDF5 (h5py), Scikit-Learn, SciPy, Matplotlib, Seaborn, PyYAML.</a:t>
            </a:r>
          </a:p>
          <a:p>
            <a:pPr>
              <a:spcBef>
                <a:spcPts val="100"/>
              </a:spcBef>
              <a:spcAft>
                <a:spcPts val="100"/>
              </a:spcAft>
              <a:buNone/>
            </a:pPr>
            <a:r>
              <a:rPr sz="1000">
                <a:solidFill>
                  <a:srgbClr val="212529"/>
                </a:solidFill>
                <a:latin typeface="Arial"/>
              </a:rPr>
              <a:t>  - Deployment &amp; Efficiency: Containerized with Docker / TorchScript for low-latency operational inference (&lt;150 ms per storm cycle on GPU, &lt;1.2s on standard CPU).</a:t>
            </a:r>
          </a:p>
          <a:p>
            <a:pPr>
              <a:spcBef>
                <a:spcPts val="500"/>
              </a:spcBef>
              <a:spcAft>
                <a:spcPts val="200"/>
              </a:spcAft>
              <a:buNone/>
            </a:pPr>
            <a:r>
              <a:rPr sz="1200" b="1">
                <a:solidFill>
                  <a:srgbClr val="10366E"/>
                </a:solidFill>
                <a:latin typeface="Arial"/>
              </a:rPr>
              <a:t>• Methodology and process for implementation (Flow Charts/Images/ working prototype):</a:t>
            </a:r>
          </a:p>
          <a:p>
            <a:pPr>
              <a:spcBef>
                <a:spcPts val="100"/>
              </a:spcBef>
              <a:spcAft>
                <a:spcPts val="100"/>
              </a:spcAft>
              <a:buNone/>
            </a:pPr>
            <a:r>
              <a:rPr sz="1000">
                <a:solidFill>
                  <a:srgbClr val="212529"/>
                </a:solidFill>
                <a:latin typeface="Arial"/>
              </a:rPr>
              <a:t>  - 1. Multi-Spectral Data Ingestion: Streams 5 consecutive geostationary satellite frames [t-12h, t-9h, t-6h, t-3h, t] covering Infrared (IR1 10.8µm), Water Vapor (WV 6.7µm), and Visible (VIS 0.65µm).</a:t>
            </a:r>
          </a:p>
          <a:p>
            <a:pPr>
              <a:spcBef>
                <a:spcPts val="100"/>
              </a:spcBef>
              <a:spcAft>
                <a:spcPts val="100"/>
              </a:spcAft>
              <a:buNone/>
            </a:pPr>
            <a:r>
              <a:rPr sz="1000">
                <a:solidFill>
                  <a:srgbClr val="212529"/>
                </a:solidFill>
                <a:latin typeface="Arial"/>
              </a:rPr>
              <a:t>  - 2. Spatial Feature Extraction &amp; Diurnal Gating: ResNet-18 extracts 512-d convective representations per frame; learned solar zenith gating dynamically handles daytime vs nighttime visible imagery.</a:t>
            </a:r>
          </a:p>
          <a:p>
            <a:pPr>
              <a:spcBef>
                <a:spcPts val="100"/>
              </a:spcBef>
              <a:spcAft>
                <a:spcPts val="100"/>
              </a:spcAft>
              <a:buNone/>
            </a:pPr>
            <a:r>
              <a:rPr sz="1000">
                <a:solidFill>
                  <a:srgbClr val="212529"/>
                </a:solidFill>
                <a:latin typeface="Arial"/>
              </a:rPr>
              <a:t>  - 3. Temporal Sequence Modeling: Positional encoding + Temporal Transformer captures convective cloud rotation, eyewall contraction, and structural evolution over time.</a:t>
            </a:r>
          </a:p>
          <a:p>
            <a:pPr>
              <a:spcBef>
                <a:spcPts val="100"/>
              </a:spcBef>
              <a:spcAft>
                <a:spcPts val="100"/>
              </a:spcAft>
              <a:buNone/>
            </a:pPr>
            <a:r>
              <a:rPr sz="1000">
                <a:solidFill>
                  <a:srgbClr val="212529"/>
                </a:solidFill>
                <a:latin typeface="Arial"/>
              </a:rPr>
              <a:t>  - 4. Environmental Fusion: Merges 6 physical ocean-atmosphere variables (SST, Ocean Heat Content, Shear, RH, Vmax, MSLP) into a unified multi-modal latent representation.</a:t>
            </a:r>
          </a:p>
          <a:p>
            <a:pPr>
              <a:spcBef>
                <a:spcPts val="100"/>
              </a:spcBef>
              <a:spcAft>
                <a:spcPts val="100"/>
              </a:spcAft>
              <a:buNone/>
            </a:pPr>
            <a:r>
              <a:rPr sz="1000">
                <a:solidFill>
                  <a:srgbClr val="212529"/>
                </a:solidFill>
                <a:latin typeface="Arial"/>
              </a:rPr>
              <a:t>  - 5. Multi-Task Forecaster Output: Simultaneously outputs 24h RI Probability P(RI), 3-Class Trend (Weakening/Stable/Intensifying), and +6h/+12h/+24h continuous intensity guidance via an interactive web dashboard.</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691640" y="137160"/>
            <a:ext cx="8046720" cy="822960"/>
          </a:xfrm>
        </p:spPr>
        <p:txBody>
          <a:bodyPr/>
          <a:lstStyle/>
          <a:p>
            <a:pPr>
              <a:buNone/>
              <a:defRPr sz="2200" b="1">
                <a:solidFill>
                  <a:srgbClr val="10366E"/>
                </a:solidFill>
                <a:latin typeface="Arial"/>
              </a:defRPr>
            </a:pPr>
            <a:r>
              <a:t>FEASIBILITY AND VIABILITY</a:t>
            </a:r>
          </a:p>
        </p:txBody>
      </p:sp>
      <p:sp>
        <p:nvSpPr>
          <p:cNvPr id="17410" name="TextBox 8"/>
          <p:cNvSpPr txBox="1">
            <a:spLocks noChangeArrowheads="1"/>
          </p:cNvSpPr>
          <p:nvPr/>
        </p:nvSpPr>
        <p:spPr bwMode="auto">
          <a:xfrm>
            <a:off x="731520" y="1234440"/>
            <a:ext cx="10789920" cy="484632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ts val="500"/>
              </a:spcBef>
              <a:spcAft>
                <a:spcPts val="200"/>
              </a:spcAft>
              <a:buClrTx/>
              <a:buSzTx/>
              <a:tabLst/>
              <a:defRPr/>
              <a:buNone/>
            </a:pPr>
            <a:r>
              <a:rPr sz="1200" b="1">
                <a:solidFill>
                  <a:srgbClr val="10366E"/>
                </a:solidFill>
                <a:latin typeface="Arial"/>
              </a:rPr>
              <a:t>• 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a:spcBef>
                <a:spcPts val="100"/>
              </a:spcBef>
              <a:spcAft>
                <a:spcPts val="100"/>
              </a:spcAft>
              <a:buNone/>
            </a:pPr>
            <a:r>
              <a:rPr sz="950">
                <a:solidFill>
                  <a:srgbClr val="212529"/>
                </a:solidFill>
                <a:latin typeface="Arial"/>
              </a:rPr>
              <a:t>  - Technical Feasibility: Fully functional, validated end-to-end prototype already developed and tested on 55,149 sequences across 1,265 real cyclones globally (North Indian Ocean, Pacific, Atlantic).</a:t>
            </a:r>
          </a:p>
          <a:p>
            <a:pPr>
              <a:spcBef>
                <a:spcPts val="100"/>
              </a:spcBef>
              <a:spcAft>
                <a:spcPts val="100"/>
              </a:spcAft>
              <a:buNone/>
            </a:pPr>
            <a:r>
              <a:rPr sz="950">
                <a:solidFill>
                  <a:srgbClr val="212529"/>
                </a:solidFill>
                <a:latin typeface="Arial"/>
              </a:rPr>
              <a:t>  - Operational Latency: Forward inference takes &lt;150 ms per sequence on modern GPU, easily fitting within the 30-minute operational dissemination window of IMD/JTWC.</a:t>
            </a:r>
          </a:p>
          <a:p>
            <a:pPr>
              <a:spcBef>
                <a:spcPts val="100"/>
              </a:spcBef>
              <a:spcAft>
                <a:spcPts val="100"/>
              </a:spcAft>
              <a:buNone/>
            </a:pPr>
            <a:r>
              <a:rPr sz="950">
                <a:solidFill>
                  <a:srgbClr val="212529"/>
                </a:solidFill>
                <a:latin typeface="Arial"/>
              </a:rPr>
              <a:t>  - Data Availability: Operates on routine geostationary satellite feeds (INSAT-3D/3DR/3DS, GOES, Himawari) and GFS/SHIPS environmental analyses readily available in real time.</a:t>
            </a:r>
          </a:p>
          <a:p>
            <a:pPr>
              <a:spcBef>
                <a:spcPts val="500"/>
              </a:spcBef>
              <a:spcAft>
                <a:spcPts val="200"/>
              </a:spcAft>
              <a:buNone/>
            </a:pPr>
            <a:r>
              <a:rPr sz="1200" b="1">
                <a:solidFill>
                  <a:srgbClr val="10366E"/>
                </a:solidFill>
                <a:latin typeface="Arial"/>
              </a:rPr>
              <a:t>• Potential challenges and risks:</a:t>
            </a:r>
          </a:p>
          <a:p>
            <a:pPr>
              <a:spcBef>
                <a:spcPts val="100"/>
              </a:spcBef>
              <a:spcAft>
                <a:spcPts val="100"/>
              </a:spcAft>
              <a:buNone/>
            </a:pPr>
            <a:r>
              <a:rPr sz="950">
                <a:solidFill>
                  <a:srgbClr val="212529"/>
                </a:solidFill>
                <a:latin typeface="Arial"/>
              </a:rPr>
              <a:t>  - Severe Class Imbalance: Rapid Intensification is rare (~6.8% prevalence in global cyclones), causing uncalibrated models to heavily under-predict RI.</a:t>
            </a:r>
          </a:p>
          <a:p>
            <a:pPr>
              <a:spcBef>
                <a:spcPts val="100"/>
              </a:spcBef>
              <a:spcAft>
                <a:spcPts val="100"/>
              </a:spcAft>
              <a:buNone/>
            </a:pPr>
            <a:r>
              <a:rPr sz="950">
                <a:solidFill>
                  <a:srgbClr val="212529"/>
                </a:solidFill>
                <a:latin typeface="Arial"/>
              </a:rPr>
              <a:t>  - Missing Nighttime Visible Data: Visible sensors cannot capture cloud imagery at night, creating periodic 12-hour data gaps.</a:t>
            </a:r>
          </a:p>
          <a:p>
            <a:pPr>
              <a:spcBef>
                <a:spcPts val="100"/>
              </a:spcBef>
              <a:spcAft>
                <a:spcPts val="100"/>
              </a:spcAft>
              <a:buNone/>
            </a:pPr>
            <a:r>
              <a:rPr sz="950">
                <a:solidFill>
                  <a:srgbClr val="212529"/>
                </a:solidFill>
                <a:latin typeface="Arial"/>
              </a:rPr>
              <a:t>  - Environmental Data Availability &amp; Discrepancies: Global atmospheric analyses (GFS) are disseminated at 6h synoptic cycles, whereas satellite observations arrive every 3 hours.</a:t>
            </a:r>
          </a:p>
          <a:p>
            <a:pPr>
              <a:spcBef>
                <a:spcPts val="500"/>
              </a:spcBef>
              <a:spcAft>
                <a:spcPts val="200"/>
              </a:spcAft>
              <a:buNone/>
            </a:pPr>
            <a:r>
              <a:rPr sz="1200" b="1">
                <a:solidFill>
                  <a:srgbClr val="10366E"/>
                </a:solidFill>
                <a:latin typeface="Arial"/>
              </a:rPr>
              <a:t>• Strategies for overcoming these challenges:</a:t>
            </a:r>
          </a:p>
          <a:p>
            <a:pPr>
              <a:spcBef>
                <a:spcPts val="100"/>
              </a:spcBef>
              <a:spcAft>
                <a:spcPts val="100"/>
              </a:spcAft>
              <a:buNone/>
            </a:pPr>
            <a:r>
              <a:rPr sz="950">
                <a:solidFill>
                  <a:srgbClr val="212529"/>
                </a:solidFill>
                <a:latin typeface="Arial"/>
              </a:rPr>
              <a:t>  - Cost-Sensitive Loss &amp; Optimal Calibration: Weighted BCE loss (w_pos = 13.8) coupled with validation-optimized decision thresholds (tau = 0.141) achieves &gt;63% RI recall and 0.868+ ROC-AUC.</a:t>
            </a:r>
          </a:p>
          <a:p>
            <a:pPr>
              <a:spcBef>
                <a:spcPts val="100"/>
              </a:spcBef>
              <a:spcAft>
                <a:spcPts val="100"/>
              </a:spcAft>
              <a:buNone/>
            </a:pPr>
            <a:r>
              <a:rPr sz="950">
                <a:solidFill>
                  <a:srgbClr val="212529"/>
                </a:solidFill>
                <a:latin typeface="Arial"/>
              </a:rPr>
              <a:t>  - Learned Solar Zenith Gating: Dedicated gating layer smoothly downweights visible representations during nighttime passes, preventing sensor dropouts from degrading forecasts.</a:t>
            </a:r>
          </a:p>
          <a:p>
            <a:pPr>
              <a:spcBef>
                <a:spcPts val="100"/>
              </a:spcBef>
              <a:spcAft>
                <a:spcPts val="100"/>
              </a:spcAft>
              <a:buNone/>
            </a:pPr>
            <a:r>
              <a:rPr sz="950">
                <a:solidFill>
                  <a:srgbClr val="212529"/>
                </a:solidFill>
                <a:latin typeface="Arial"/>
              </a:rPr>
              <a:t>  - Causal Zero-Lookahead Forward-Fill: Rigorous operational forward-fill from previous synoptic cycle with explicit audit logging (environment_age_hours), ensuring 100% causal mathematical safety.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691640" y="137160"/>
            <a:ext cx="8046720" cy="822960"/>
          </a:xfrm>
        </p:spPr>
        <p:txBody>
          <a:bodyPr/>
          <a:lstStyle/>
          <a:p>
            <a:pPr>
              <a:buNone/>
              <a:defRPr sz="2200" b="1">
                <a:solidFill>
                  <a:srgbClr val="10366E"/>
                </a:solidFill>
                <a:latin typeface="Arial"/>
              </a:defRPr>
            </a:pPr>
            <a:r>
              <a:t>IMPACT AND BENEFITS</a:t>
            </a:r>
          </a:p>
        </p:txBody>
      </p:sp>
      <p:sp>
        <p:nvSpPr>
          <p:cNvPr id="17410" name="TextBox 8"/>
          <p:cNvSpPr txBox="1">
            <a:spLocks noChangeArrowheads="1"/>
          </p:cNvSpPr>
          <p:nvPr/>
        </p:nvSpPr>
        <p:spPr bwMode="auto">
          <a:xfrm>
            <a:off x="731520" y="1234440"/>
            <a:ext cx="10789920" cy="484632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ts val="500"/>
              </a:spcBef>
              <a:spcAft>
                <a:spcPts val="200"/>
              </a:spcAft>
              <a:buClrTx/>
              <a:buSzTx/>
              <a:tabLst/>
              <a:defRPr/>
              <a:buNone/>
            </a:pPr>
            <a:r>
              <a:rPr sz="1200" b="1">
                <a:solidFill>
                  <a:srgbClr val="10366E"/>
                </a:solidFill>
                <a:latin typeface="Arial"/>
              </a:rPr>
              <a:t>• Potential impact on the target audience:</a:t>
            </a:r>
          </a:p>
          <a:p>
            <a:pPr>
              <a:spcBef>
                <a:spcPts val="100"/>
              </a:spcBef>
              <a:spcAft>
                <a:spcPts val="100"/>
              </a:spcAft>
              <a:buNone/>
            </a:pPr>
            <a:r>
              <a:rPr sz="1000">
                <a:solidFill>
                  <a:srgbClr val="212529"/>
                </a:solidFill>
                <a:latin typeface="Arial"/>
              </a:rPr>
              <a:t>  - Direct Operational Beneficiaries: India Meteorological Department (IMD), National Disaster Management Authority (NDMA), State Disaster Management Authorities (SDMAs - Odisha, Gujarat, AP, WB, Tamil Nadu), Indian Coast Guard, and NDRF.</a:t>
            </a:r>
          </a:p>
          <a:p>
            <a:pPr>
              <a:spcBef>
                <a:spcPts val="100"/>
              </a:spcBef>
              <a:spcAft>
                <a:spcPts val="100"/>
              </a:spcAft>
              <a:buNone/>
            </a:pPr>
            <a:r>
              <a:rPr sz="1000">
                <a:solidFill>
                  <a:srgbClr val="212529"/>
                </a:solidFill>
                <a:latin typeface="Arial"/>
              </a:rPr>
              <a:t>  - 24-Hour Actionable Evacuation Window: Provides coastal district administrators a life-saving 24-hour lead time to execute targeted evacuations, recall deep-sea fishermen, and reinforce embankments before extreme winds make roads impassable.</a:t>
            </a:r>
          </a:p>
          <a:p>
            <a:pPr>
              <a:spcBef>
                <a:spcPts val="100"/>
              </a:spcBef>
              <a:spcAft>
                <a:spcPts val="100"/>
              </a:spcAft>
              <a:buNone/>
            </a:pPr>
            <a:r>
              <a:rPr sz="1000">
                <a:solidFill>
                  <a:srgbClr val="212529"/>
                </a:solidFill>
                <a:latin typeface="Arial"/>
              </a:rPr>
              <a:t>  - Objective Probabilistic Decision Support: Replaces qualitative, subjective Dvorak human estimates with objective, calibrated, and reproducible AI confidence scores.</a:t>
            </a:r>
          </a:p>
          <a:p>
            <a:pPr>
              <a:spcBef>
                <a:spcPts val="500"/>
              </a:spcBef>
              <a:spcAft>
                <a:spcPts val="200"/>
              </a:spcAft>
              <a:buNone/>
            </a:pPr>
            <a:r>
              <a:rPr sz="1200" b="1">
                <a:solidFill>
                  <a:srgbClr val="10366E"/>
                </a:solidFill>
                <a:latin typeface="Arial"/>
              </a:rPr>
              <a:t>• Benefits of the solution (social, economic, environmental, etc.):</a:t>
            </a:r>
          </a:p>
          <a:p>
            <a:pPr>
              <a:spcBef>
                <a:spcPts val="100"/>
              </a:spcBef>
              <a:spcAft>
                <a:spcPts val="100"/>
              </a:spcAft>
              <a:buNone/>
            </a:pPr>
            <a:r>
              <a:rPr sz="1000">
                <a:solidFill>
                  <a:srgbClr val="212529"/>
                </a:solidFill>
                <a:latin typeface="Arial"/>
              </a:rPr>
              <a:t>  - Social (Preserving Human Lives): Directly mitigates mass casualties caused by unpredicted explosive offshore intensification (e.g., VSCS Nargis 2008: 138,000+ deaths; Cyclone Ockhi 2017: 350+ fishermen lost).</a:t>
            </a:r>
          </a:p>
          <a:p>
            <a:pPr>
              <a:spcBef>
                <a:spcPts val="100"/>
              </a:spcBef>
              <a:spcAft>
                <a:spcPts val="100"/>
              </a:spcAft>
              <a:buNone/>
            </a:pPr>
            <a:r>
              <a:rPr sz="1000">
                <a:solidFill>
                  <a:srgbClr val="212529"/>
                </a:solidFill>
                <a:latin typeface="Arial"/>
              </a:rPr>
              <a:t>  - Economic (Optimized Resource Allocation): Mass coastal evacuations cost state governments ₹50–100+ Crores per event. Accurate RI probability and trend classification prevents costly false alarm evacuations while ensuring full mobilization when danger is severe.</a:t>
            </a:r>
          </a:p>
          <a:p>
            <a:pPr>
              <a:spcBef>
                <a:spcPts val="100"/>
              </a:spcBef>
              <a:spcAft>
                <a:spcPts val="100"/>
              </a:spcAft>
              <a:buNone/>
            </a:pPr>
            <a:r>
              <a:rPr sz="1000">
                <a:solidFill>
                  <a:srgbClr val="212529"/>
                </a:solidFill>
                <a:latin typeface="Arial"/>
              </a:rPr>
              <a:t>  - Infrastructure &amp; Maritime Protection: Gives port authorities (Paradip, Kandla, Vizag), naval assets, and offshore installations (ONGC platforms) vital lead time to secure heavy cranes, vessels, and fuel terminals against destructive storm surges.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691640" y="137160"/>
            <a:ext cx="8046720" cy="822960"/>
          </a:xfrm>
        </p:spPr>
        <p:txBody>
          <a:bodyPr/>
          <a:lstStyle/>
          <a:p>
            <a:pPr>
              <a:buNone/>
              <a:defRPr sz="2200" b="1">
                <a:solidFill>
                  <a:srgbClr val="10366E"/>
                </a:solidFill>
                <a:latin typeface="Arial"/>
              </a:defRPr>
            </a:pPr>
            <a:r>
              <a:t>RESEARCH  AND REFERENCES</a:t>
            </a:r>
          </a:p>
        </p:txBody>
      </p:sp>
      <p:sp>
        <p:nvSpPr>
          <p:cNvPr id="17410" name="TextBox 8"/>
          <p:cNvSpPr txBox="1">
            <a:spLocks noChangeArrowheads="1"/>
          </p:cNvSpPr>
          <p:nvPr/>
        </p:nvSpPr>
        <p:spPr bwMode="auto">
          <a:xfrm>
            <a:off x="731520" y="1234440"/>
            <a:ext cx="10789920" cy="484632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ts val="500"/>
              </a:spcBef>
              <a:spcAft>
                <a:spcPts val="200"/>
              </a:spcAft>
              <a:buClrTx/>
              <a:buSzTx/>
              <a:tabLst/>
              <a:defRPr/>
              <a:buNone/>
            </a:pPr>
            <a:r>
              <a:rPr sz="1200" b="1">
                <a:solidFill>
                  <a:srgbClr val="10366E"/>
                </a:solidFill>
                <a:latin typeface="Arial"/>
              </a:rPr>
              <a:t>• Details / Links of the reference and research work:</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a:spcBef>
                <a:spcPts val="100"/>
              </a:spcBef>
              <a:spcAft>
                <a:spcPts val="100"/>
              </a:spcAft>
              <a:buNone/>
            </a:pPr>
            <a:r>
              <a:rPr sz="950">
                <a:solidFill>
                  <a:srgbClr val="212529"/>
                </a:solidFill>
                <a:latin typeface="Arial"/>
              </a:rPr>
              <a:t>  - [1] Chen, B. F., Chen, B., Lin, K. T., &amp; Elsberry, R. L. (2020). 'TCIR: A Tropical Cyclone Information Dataset for Deep Learning Applications.' IEEE Transactions on Geoscience and Remote Sensing (TGRS), 58(4), 2838–2847. DOI: 10.1109/TGRS.2019.2942474.</a:t>
            </a:r>
          </a:p>
          <a:p>
            <a:pPr>
              <a:spcBef>
                <a:spcPts val="100"/>
              </a:spcBef>
              <a:spcAft>
                <a:spcPts val="100"/>
              </a:spcAft>
              <a:buNone/>
            </a:pPr>
            <a:r>
              <a:rPr sz="950">
                <a:solidFill>
                  <a:srgbClr val="212529"/>
                </a:solidFill>
                <a:latin typeface="Arial"/>
              </a:rPr>
              <a:t>  - [2] DeMaria, M., Mainelli, M., Shay, L. K., Knaff, J. A., &amp; Kaplan, J. (2005). 'Further Improvements to the Statistical Hurricane Intensity Prediction Scheme (SHIPS).' Weather and Forecasting, 20(4), 530–544.</a:t>
            </a:r>
          </a:p>
          <a:p>
            <a:pPr>
              <a:spcBef>
                <a:spcPts val="100"/>
              </a:spcBef>
              <a:spcAft>
                <a:spcPts val="100"/>
              </a:spcAft>
              <a:buNone/>
            </a:pPr>
            <a:r>
              <a:rPr sz="950">
                <a:solidFill>
                  <a:srgbClr val="212529"/>
                </a:solidFill>
                <a:latin typeface="Arial"/>
              </a:rPr>
              <a:t>  - [3] Kaplan, J., &amp; DeMaria, M. (2003). 'Large-Scale Characteristics of Rapidly Intensifying Tropical Cyclones in the North Atlantic Basin.' Weather and Forecasting, 18(6), 1093–1108.</a:t>
            </a:r>
          </a:p>
          <a:p>
            <a:pPr>
              <a:spcBef>
                <a:spcPts val="100"/>
              </a:spcBef>
              <a:spcAft>
                <a:spcPts val="100"/>
              </a:spcAft>
              <a:buNone/>
            </a:pPr>
            <a:r>
              <a:rPr sz="950">
                <a:solidFill>
                  <a:srgbClr val="212529"/>
                </a:solidFill>
                <a:latin typeface="Arial"/>
              </a:rPr>
              <a:t>  - [4] Vaswani, A., Shazeer, N., Parmar, N., Uszkoreit, J., Jones, L., Gomez, A. N., Kaiser, Ł., &amp; Polosukhin, I. (2017). 'Attention Is All You Need.' Advances in Neural Information Processing Systems (NeurIPS 2017), 30, 5998–6008.</a:t>
            </a:r>
          </a:p>
          <a:p>
            <a:pPr>
              <a:spcBef>
                <a:spcPts val="100"/>
              </a:spcBef>
              <a:spcAft>
                <a:spcPts val="100"/>
              </a:spcAft>
              <a:buNone/>
            </a:pPr>
            <a:r>
              <a:rPr sz="950">
                <a:solidFill>
                  <a:srgbClr val="212529"/>
                </a:solidFill>
                <a:latin typeface="Arial"/>
              </a:rPr>
              <a:t>  - [5] He, K., Zhang, X., Ren, S., &amp; Sun, J. (2016). 'Deep Residual Learning for Image Recognition.' Proceedings of the IEEE Conference on Computer Vision and Pattern Recognition (CVPR 2016), 770–778.</a:t>
            </a:r>
          </a:p>
          <a:p>
            <a:pPr>
              <a:spcBef>
                <a:spcPts val="100"/>
              </a:spcBef>
              <a:spcAft>
                <a:spcPts val="100"/>
              </a:spcAft>
              <a:buNone/>
            </a:pPr>
            <a:r>
              <a:rPr sz="950">
                <a:solidFill>
                  <a:srgbClr val="212529"/>
                </a:solidFill>
                <a:latin typeface="Arial"/>
              </a:rPr>
              <a:t>  - [6] CIRA / NOAA RAMMB Tropical Cyclone Diagnostics &amp; SHIPS Database: https://rammb-data.cira.colostate.edu/ships/</a:t>
            </a:r>
          </a:p>
          <a:p>
            <a:pPr>
              <a:spcBef>
                <a:spcPts val="100"/>
              </a:spcBef>
              <a:spcAft>
                <a:spcPts val="100"/>
              </a:spcAft>
              <a:buNone/>
            </a:pPr>
            <a:r>
              <a:rPr sz="950">
                <a:solidFill>
                  <a:srgbClr val="212529"/>
                </a:solidFill>
                <a:latin typeface="Arial"/>
              </a:rPr>
              <a:t>  - [7] India Meteorological Department (IMD) Cyclone Best Track Archives &amp; INSAT Imagery: https://rsmcnewdelhi.imd.gov.in/</a:t>
            </a:r>
          </a:p>
          <a:p>
            <a:pPr>
              <a:spcBef>
                <a:spcPts val="100"/>
              </a:spcBef>
              <a:spcAft>
                <a:spcPts val="100"/>
              </a:spcAft>
              <a:buNone/>
            </a:pPr>
            <a:r>
              <a:rPr sz="950">
                <a:solidFill>
                  <a:srgbClr val="212529"/>
                </a:solidFill>
                <a:latin typeface="Arial"/>
              </a:rPr>
              <a:t>  - [8] Project Prototype Repository &amp; Real-Time Forecaster Demo: https://github.com/theDivinePenguin/cycml</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